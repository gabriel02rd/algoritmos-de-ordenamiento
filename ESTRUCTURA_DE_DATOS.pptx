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76" r:id="rId10"/>
    <p:sldId id="263" r:id="rId11"/>
    <p:sldId id="264" r:id="rId12"/>
    <p:sldId id="277" r:id="rId13"/>
    <p:sldId id="265" r:id="rId14"/>
    <p:sldId id="266" r:id="rId15"/>
    <p:sldId id="267" r:id="rId16"/>
    <p:sldId id="268" r:id="rId17"/>
    <p:sldId id="274" r:id="rId18"/>
    <p:sldId id="269" r:id="rId19"/>
    <p:sldId id="270" r:id="rId20"/>
    <p:sldId id="278" r:id="rId21"/>
    <p:sldId id="271" r:id="rId22"/>
    <p:sldId id="272" r:id="rId23"/>
    <p:sldId id="279" r:id="rId24"/>
    <p:sldId id="273" r:id="rId2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0" d="100"/>
          <a:sy n="130" d="100"/>
        </p:scale>
        <p:origin x="1518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23,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Luis</a:t>
            </a:r>
            <a:r>
              <a:rPr spc="20" dirty="0"/>
              <a:t> </a:t>
            </a:r>
            <a:r>
              <a:rPr dirty="0"/>
              <a:t>Gabriel</a:t>
            </a:r>
            <a:r>
              <a:rPr spc="25" dirty="0"/>
              <a:t> </a:t>
            </a:r>
            <a:r>
              <a:rPr dirty="0"/>
              <a:t>Rivas</a:t>
            </a:r>
            <a:r>
              <a:rPr spc="25" dirty="0"/>
              <a:t> </a:t>
            </a:r>
            <a:r>
              <a:rPr spc="-20" dirty="0"/>
              <a:t>Diaz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‹Nº›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23,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Luis</a:t>
            </a:r>
            <a:r>
              <a:rPr spc="20" dirty="0"/>
              <a:t> </a:t>
            </a:r>
            <a:r>
              <a:rPr dirty="0"/>
              <a:t>Gabriel</a:t>
            </a:r>
            <a:r>
              <a:rPr spc="25" dirty="0"/>
              <a:t> </a:t>
            </a:r>
            <a:r>
              <a:rPr dirty="0"/>
              <a:t>Rivas</a:t>
            </a:r>
            <a:r>
              <a:rPr spc="25" dirty="0"/>
              <a:t> </a:t>
            </a:r>
            <a:r>
              <a:rPr spc="-20" dirty="0"/>
              <a:t>Diaz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‹Nº›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23,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Luis</a:t>
            </a:r>
            <a:r>
              <a:rPr spc="20" dirty="0"/>
              <a:t> </a:t>
            </a:r>
            <a:r>
              <a:rPr dirty="0"/>
              <a:t>Gabriel</a:t>
            </a:r>
            <a:r>
              <a:rPr spc="25" dirty="0"/>
              <a:t> </a:t>
            </a:r>
            <a:r>
              <a:rPr dirty="0"/>
              <a:t>Rivas</a:t>
            </a:r>
            <a:r>
              <a:rPr spc="25" dirty="0"/>
              <a:t> </a:t>
            </a:r>
            <a:r>
              <a:rPr spc="-20" dirty="0"/>
              <a:t>Diaz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‹Nº›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23,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Luis</a:t>
            </a:r>
            <a:r>
              <a:rPr spc="20" dirty="0"/>
              <a:t> </a:t>
            </a:r>
            <a:r>
              <a:rPr dirty="0"/>
              <a:t>Gabriel</a:t>
            </a:r>
            <a:r>
              <a:rPr spc="25" dirty="0"/>
              <a:t> </a:t>
            </a:r>
            <a:r>
              <a:rPr dirty="0"/>
              <a:t>Rivas</a:t>
            </a:r>
            <a:r>
              <a:rPr spc="25" dirty="0"/>
              <a:t> </a:t>
            </a:r>
            <a:r>
              <a:rPr spc="-20" dirty="0"/>
              <a:t>Diaz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‹Nº›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23,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Luis</a:t>
            </a:r>
            <a:r>
              <a:rPr spc="20" dirty="0"/>
              <a:t> </a:t>
            </a:r>
            <a:r>
              <a:rPr dirty="0"/>
              <a:t>Gabriel</a:t>
            </a:r>
            <a:r>
              <a:rPr spc="25" dirty="0"/>
              <a:t> </a:t>
            </a:r>
            <a:r>
              <a:rPr dirty="0"/>
              <a:t>Rivas</a:t>
            </a:r>
            <a:r>
              <a:rPr spc="25" dirty="0"/>
              <a:t> </a:t>
            </a:r>
            <a:r>
              <a:rPr spc="-20" dirty="0"/>
              <a:t>Diaz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‹Nº›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299402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1123440"/>
            <a:ext cx="4036695" cy="1128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09111" y="3351784"/>
            <a:ext cx="6337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</a:t>
            </a:r>
            <a:r>
              <a:rPr spc="5" dirty="0"/>
              <a:t> </a:t>
            </a:r>
            <a:r>
              <a:rPr dirty="0"/>
              <a:t>23,</a:t>
            </a:r>
            <a:r>
              <a:rPr spc="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65417" y="3351784"/>
            <a:ext cx="80518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Luis</a:t>
            </a:r>
            <a:r>
              <a:rPr spc="20" dirty="0"/>
              <a:t> </a:t>
            </a:r>
            <a:r>
              <a:rPr dirty="0"/>
              <a:t>Gabriel</a:t>
            </a:r>
            <a:r>
              <a:rPr spc="25" dirty="0"/>
              <a:t> </a:t>
            </a:r>
            <a:r>
              <a:rPr dirty="0"/>
              <a:t>Rivas</a:t>
            </a:r>
            <a:r>
              <a:rPr spc="25" dirty="0"/>
              <a:t> </a:t>
            </a:r>
            <a:r>
              <a:rPr spc="-20" dirty="0"/>
              <a:t>Diaz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10" dirty="0"/>
              <a:t>‹Nº›</a:t>
            </a:fld>
            <a:r>
              <a:rPr spc="-85" dirty="0"/>
              <a:t> </a:t>
            </a:r>
            <a:r>
              <a:rPr spc="90" dirty="0"/>
              <a:t>/</a:t>
            </a:r>
            <a:r>
              <a:rPr spc="-85" dirty="0"/>
              <a:t> </a:t>
            </a:r>
            <a:r>
              <a:rPr spc="-35" dirty="0"/>
              <a:t>18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slide" Target="slide10.xml"/><Relationship Id="rId3" Type="http://schemas.openxmlformats.org/officeDocument/2006/relationships/slide" Target="slide3.xml"/><Relationship Id="rId7" Type="http://schemas.openxmlformats.org/officeDocument/2006/relationships/image" Target="../media/image4.png"/><Relationship Id="rId12" Type="http://schemas.openxmlformats.org/officeDocument/2006/relationships/slide" Target="slide7.xml"/><Relationship Id="rId17" Type="http://schemas.openxmlformats.org/officeDocument/2006/relationships/slide" Target="slide21.xml"/><Relationship Id="rId2" Type="http://schemas.openxmlformats.org/officeDocument/2006/relationships/image" Target="../media/image1.png"/><Relationship Id="rId16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slide" Target="slide4.xml"/><Relationship Id="rId15" Type="http://schemas.openxmlformats.org/officeDocument/2006/relationships/slide" Target="slide15.xm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14" Type="http://schemas.openxmlformats.org/officeDocument/2006/relationships/slide" Target="slide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86942"/>
            <a:ext cx="4483735" cy="737870"/>
            <a:chOff x="87743" y="786942"/>
            <a:chExt cx="4483735" cy="737870"/>
          </a:xfrm>
        </p:grpSpPr>
        <p:sp>
          <p:nvSpPr>
            <p:cNvPr id="3" name="object 3"/>
            <p:cNvSpPr/>
            <p:nvPr/>
          </p:nvSpPr>
          <p:spPr>
            <a:xfrm>
              <a:off x="87743" y="78694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0200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1363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>
                  <a:moveTo>
                    <a:pt x="4432566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5" y="642319"/>
                  </a:lnTo>
                  <a:lnTo>
                    <a:pt x="4401490" y="638310"/>
                  </a:lnTo>
                  <a:lnTo>
                    <a:pt x="4417643" y="627396"/>
                  </a:lnTo>
                  <a:lnTo>
                    <a:pt x="4428558" y="611243"/>
                  </a:lnTo>
                  <a:lnTo>
                    <a:pt x="4432566" y="59151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0200"/>
            <a:ext cx="4432935" cy="4802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</a:pPr>
            <a:r>
              <a:rPr sz="1400" b="1" spc="-2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Algoritmos</a:t>
            </a:r>
            <a:r>
              <a:rPr sz="1400" b="1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</a:t>
            </a:r>
            <a:r>
              <a:rPr sz="1400" b="1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Ordenamiento</a:t>
            </a:r>
            <a:endParaRPr sz="1400" b="1" dirty="0">
              <a:latin typeface="Calisto MT" panose="02040603050505030304" pitchFamily="18" charset="0"/>
              <a:cs typeface="Tahoma"/>
            </a:endParaRPr>
          </a:p>
          <a:p>
            <a:pPr marR="93980" algn="ctr">
              <a:lnSpc>
                <a:spcPct val="100000"/>
              </a:lnSpc>
              <a:spcBef>
                <a:spcPts val="325"/>
              </a:spcBef>
            </a:pPr>
            <a:r>
              <a:rPr sz="1100" b="1" spc="-3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Conceptos,</a:t>
            </a:r>
            <a:r>
              <a:rPr sz="1100" b="1" spc="-1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100" b="1" spc="-3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Visualizaciones</a:t>
            </a:r>
            <a:r>
              <a:rPr sz="1100" b="1" spc="-1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100" b="1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y</a:t>
            </a:r>
            <a:r>
              <a:rPr sz="1100" b="1" spc="-1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Ejemplos</a:t>
            </a:r>
            <a:r>
              <a:rPr sz="1100" b="1" spc="-1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</a:t>
            </a:r>
            <a:r>
              <a:rPr sz="1100" b="1" spc="-1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100" b="1" spc="7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C</a:t>
            </a:r>
            <a:r>
              <a:rPr sz="1100" b="1" spc="-54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100" b="1" spc="7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odigo</a:t>
            </a:r>
            <a:endParaRPr sz="1100" b="1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6276" y="1725356"/>
            <a:ext cx="1597548" cy="136575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70"/>
              </a:spcBef>
            </a:pPr>
            <a:endParaRPr lang="es-CO" sz="1100" dirty="0">
              <a:latin typeface="Calisto MT" panose="02040603050505030304" pitchFamily="18" charset="0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lang="es-ES" sz="1100" dirty="0">
                <a:latin typeface="Calisto MT" panose="02040603050505030304" pitchFamily="18" charset="0"/>
                <a:cs typeface="Tahoma"/>
              </a:rPr>
              <a:t>Estructura de Datos</a:t>
            </a:r>
          </a:p>
          <a:p>
            <a:pPr algn="ctr">
              <a:lnSpc>
                <a:spcPct val="100000"/>
              </a:lnSpc>
            </a:pPr>
            <a:endParaRPr lang="es-ES" sz="1100" dirty="0">
              <a:latin typeface="Calisto MT" panose="02040603050505030304" pitchFamily="18" charset="0"/>
              <a:cs typeface="Tahoma"/>
            </a:endParaRPr>
          </a:p>
          <a:p>
            <a:pPr algn="ctr">
              <a:lnSpc>
                <a:spcPct val="100000"/>
              </a:lnSpc>
            </a:pPr>
            <a:endParaRPr lang="es-ES" sz="1100" dirty="0">
              <a:latin typeface="Calisto MT" panose="02040603050505030304" pitchFamily="18" charset="0"/>
              <a:cs typeface="Tahoma"/>
            </a:endParaRPr>
          </a:p>
          <a:p>
            <a:pPr algn="ctr"/>
            <a:r>
              <a:rPr lang="es-CO" sz="1100" dirty="0">
                <a:latin typeface="Calisto MT" panose="02040603050505030304" pitchFamily="18" charset="0"/>
                <a:cs typeface="Tahoma"/>
              </a:rPr>
              <a:t>Luis</a:t>
            </a:r>
            <a:r>
              <a:rPr lang="es-CO" sz="1100" spc="-4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CO" sz="1100" spc="-30" dirty="0">
                <a:latin typeface="Calisto MT" panose="02040603050505030304" pitchFamily="18" charset="0"/>
                <a:cs typeface="Tahoma"/>
              </a:rPr>
              <a:t>Gabriel</a:t>
            </a:r>
            <a:r>
              <a:rPr lang="es-CO"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CO" sz="1100" spc="-20" dirty="0">
                <a:latin typeface="Calisto MT" panose="02040603050505030304" pitchFamily="18" charset="0"/>
                <a:cs typeface="Tahoma"/>
              </a:rPr>
              <a:t>Rivas</a:t>
            </a:r>
            <a:r>
              <a:rPr lang="es-CO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CO" sz="1100" spc="-20" dirty="0">
                <a:latin typeface="Calisto MT" panose="02040603050505030304" pitchFamily="18" charset="0"/>
                <a:cs typeface="Tahoma"/>
              </a:rPr>
              <a:t>Diaz</a:t>
            </a:r>
            <a:endParaRPr lang="es-CO" sz="1100" dirty="0">
              <a:latin typeface="Calisto MT" panose="02040603050505030304" pitchFamily="18" charset="0"/>
              <a:cs typeface="Tahoma"/>
            </a:endParaRPr>
          </a:p>
          <a:p>
            <a:pPr algn="ctr">
              <a:lnSpc>
                <a:spcPct val="100000"/>
              </a:lnSpc>
            </a:pPr>
            <a:endParaRPr lang="es-ES" sz="1100" dirty="0">
              <a:latin typeface="Calisto MT" panose="02040603050505030304" pitchFamily="18" charset="0"/>
              <a:cs typeface="Tahoma"/>
            </a:endParaRPr>
          </a:p>
          <a:p>
            <a:pPr algn="ctr">
              <a:lnSpc>
                <a:spcPct val="100000"/>
              </a:lnSpc>
            </a:pPr>
            <a:endParaRPr lang="es-ES" sz="1100" dirty="0">
              <a:latin typeface="Calisto MT" panose="02040603050505030304" pitchFamily="18" charset="0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lang="es-ES" sz="1100" dirty="0">
                <a:latin typeface="Calisto MT" panose="02040603050505030304" pitchFamily="18" charset="0"/>
                <a:cs typeface="Tahoma"/>
              </a:rPr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037" y="281411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s-ES"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Contenido</a:t>
            </a:r>
            <a:endParaRPr b="1" spc="-35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280" y="643305"/>
            <a:ext cx="160096" cy="16009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9743" y="642644"/>
            <a:ext cx="793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sto MT" panose="02040603050505030304" pitchFamily="18" charset="0"/>
                <a:cs typeface="Tahoma"/>
              </a:rPr>
              <a:t>1</a:t>
            </a:r>
            <a:endParaRPr sz="80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5173" y="615212"/>
            <a:ext cx="7461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3" action="ppaction://hlinksldjump"/>
              </a:rPr>
              <a:t>Intr</a:t>
            </a:r>
            <a:r>
              <a:rPr sz="1100" spc="-1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3" action="ppaction://hlinksldjump"/>
              </a:rPr>
              <a:t>o</a:t>
            </a:r>
            <a:r>
              <a:rPr sz="1100" spc="-4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3" action="ppaction://hlinksldjump"/>
              </a:rPr>
              <a:t>ducci</a:t>
            </a:r>
            <a:r>
              <a:rPr sz="1100" spc="-655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3" action="ppaction://hlinksldjump"/>
              </a:rPr>
              <a:t>´</a:t>
            </a:r>
            <a:r>
              <a:rPr sz="1100" spc="-4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3" action="ppaction://hlinksldjump"/>
              </a:rPr>
              <a:t>on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280" y="954824"/>
            <a:ext cx="160096" cy="16009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9743" y="954162"/>
            <a:ext cx="79375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solidFill>
                  <a:srgbClr val="EAEAF7"/>
                </a:solidFill>
                <a:latin typeface="Calisto MT" panose="02040603050505030304" pitchFamily="18" charset="0"/>
                <a:cs typeface="Tahoma"/>
              </a:rPr>
              <a:t>2</a:t>
            </a:r>
            <a:endParaRPr sz="80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5173" y="926730"/>
            <a:ext cx="7131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5" action="ppaction://hlinksldjump"/>
              </a:rPr>
              <a:t>Bubble</a:t>
            </a:r>
            <a:r>
              <a:rPr sz="1100" spc="-3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5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5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9280" y="1266342"/>
            <a:ext cx="160096" cy="1600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280" y="1577873"/>
            <a:ext cx="160096" cy="16009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9280" y="1889391"/>
            <a:ext cx="160096" cy="16009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9280" y="2200922"/>
            <a:ext cx="160096" cy="16009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9280" y="2512441"/>
            <a:ext cx="160096" cy="16009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280" y="2823959"/>
            <a:ext cx="160096" cy="16009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29743" y="1238248"/>
            <a:ext cx="996315" cy="1749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7165" indent="-164465">
              <a:lnSpc>
                <a:spcPct val="100000"/>
              </a:lnSpc>
              <a:spcBef>
                <a:spcPts val="90"/>
              </a:spcBef>
              <a:buClr>
                <a:srgbClr val="EAEAF7"/>
              </a:buClr>
              <a:buSzPct val="72727"/>
              <a:buAutoNum type="arabicPlain" startAt="3"/>
              <a:tabLst>
                <a:tab pos="177165" algn="l"/>
              </a:tabLst>
            </a:pPr>
            <a:r>
              <a:rPr sz="1100" spc="-45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2" action="ppaction://hlinksldjump"/>
              </a:rPr>
              <a:t>Insertion</a:t>
            </a:r>
            <a:r>
              <a:rPr sz="1100" spc="-1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2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2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  <a:p>
            <a:pPr marL="177165" indent="-164465">
              <a:lnSpc>
                <a:spcPct val="100000"/>
              </a:lnSpc>
              <a:spcBef>
                <a:spcPts val="1130"/>
              </a:spcBef>
              <a:buClr>
                <a:srgbClr val="EAEAF7"/>
              </a:buClr>
              <a:buSzPct val="72727"/>
              <a:buAutoNum type="arabicPlain" startAt="3"/>
              <a:tabLst>
                <a:tab pos="177165" algn="l"/>
              </a:tabLst>
            </a:pPr>
            <a:r>
              <a:rPr sz="1100" spc="-3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3" action="ppaction://hlinksldjump"/>
              </a:rPr>
              <a:t>Selection</a:t>
            </a:r>
            <a:r>
              <a:rPr sz="1100" spc="-15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3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3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  <a:p>
            <a:pPr marL="177165" indent="-164465">
              <a:lnSpc>
                <a:spcPct val="100000"/>
              </a:lnSpc>
              <a:spcBef>
                <a:spcPts val="1135"/>
              </a:spcBef>
              <a:buClr>
                <a:srgbClr val="EAEAF7"/>
              </a:buClr>
              <a:buSzPct val="72727"/>
              <a:buAutoNum type="arabicPlain" startAt="3"/>
              <a:tabLst>
                <a:tab pos="177165" algn="l"/>
              </a:tabLst>
            </a:pPr>
            <a:r>
              <a:rPr sz="1100" spc="-1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4" action="ppaction://hlinksldjump"/>
              </a:rPr>
              <a:t>Shell</a:t>
            </a:r>
            <a:r>
              <a:rPr sz="1100" spc="-7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4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4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  <a:p>
            <a:pPr marL="177165" indent="-164465">
              <a:lnSpc>
                <a:spcPct val="100000"/>
              </a:lnSpc>
              <a:spcBef>
                <a:spcPts val="1135"/>
              </a:spcBef>
              <a:buClr>
                <a:srgbClr val="EAEAF7"/>
              </a:buClr>
              <a:buSzPct val="72727"/>
              <a:buAutoNum type="arabicPlain" startAt="3"/>
              <a:tabLst>
                <a:tab pos="177165" algn="l"/>
              </a:tabLst>
            </a:pPr>
            <a:r>
              <a:rPr sz="110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5" action="ppaction://hlinksldjump"/>
              </a:rPr>
              <a:t>Quick</a:t>
            </a:r>
            <a:r>
              <a:rPr sz="1100" spc="-65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5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5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  <a:p>
            <a:pPr marL="177165" indent="-164465">
              <a:lnSpc>
                <a:spcPct val="100000"/>
              </a:lnSpc>
              <a:spcBef>
                <a:spcPts val="1130"/>
              </a:spcBef>
              <a:buClr>
                <a:srgbClr val="EAEAF7"/>
              </a:buClr>
              <a:buSzPct val="72727"/>
              <a:buAutoNum type="arabicPlain" startAt="3"/>
              <a:tabLst>
                <a:tab pos="177165" algn="l"/>
              </a:tabLst>
            </a:pP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6" action="ppaction://hlinksldjump"/>
              </a:rPr>
              <a:t>Merge</a:t>
            </a:r>
            <a:r>
              <a:rPr sz="1100" spc="-65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6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6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  <a:p>
            <a:pPr marL="177165" indent="-164465">
              <a:lnSpc>
                <a:spcPct val="100000"/>
              </a:lnSpc>
              <a:spcBef>
                <a:spcPts val="1135"/>
              </a:spcBef>
              <a:buClr>
                <a:srgbClr val="EAEAF7"/>
              </a:buClr>
              <a:buSzPct val="72727"/>
              <a:buAutoNum type="arabicPlain" startAt="3"/>
              <a:tabLst>
                <a:tab pos="177165" algn="l"/>
              </a:tabLst>
            </a:pPr>
            <a:r>
              <a:rPr sz="1100" spc="-1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7" action="ppaction://hlinksldjump"/>
              </a:rPr>
              <a:t>Radix</a:t>
            </a:r>
            <a:r>
              <a:rPr sz="1100" spc="-7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7" action="ppaction://hlinksldjump"/>
              </a:rPr>
              <a:t> </a:t>
            </a:r>
            <a:r>
              <a:rPr sz="1100" spc="-20" dirty="0">
                <a:solidFill>
                  <a:srgbClr val="3333B2"/>
                </a:solidFill>
                <a:latin typeface="Calisto MT" panose="02040603050505030304" pitchFamily="18" charset="0"/>
                <a:cs typeface="Tahoma"/>
                <a:hlinkClick r:id="rId17" action="ppaction://hlinksldjump"/>
              </a:rPr>
              <a:t>Sort</a:t>
            </a:r>
            <a:endParaRPr sz="110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7341" y="511175"/>
            <a:ext cx="358135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¿Q</a:t>
            </a:r>
            <a:r>
              <a:rPr b="1" spc="-80" dirty="0">
                <a:solidFill>
                  <a:srgbClr val="0070C0"/>
                </a:solidFill>
                <a:latin typeface="Calisto MT" panose="02040603050505030304" pitchFamily="18" charset="0"/>
              </a:rPr>
              <a:t>u</a:t>
            </a:r>
            <a:r>
              <a:rPr b="1" spc="-760" dirty="0">
                <a:solidFill>
                  <a:srgbClr val="0070C0"/>
                </a:solidFill>
                <a:latin typeface="Calisto MT" panose="02040603050505030304" pitchFamily="18" charset="0"/>
              </a:rPr>
              <a:t>´</a:t>
            </a:r>
            <a:r>
              <a:rPr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e</a:t>
            </a:r>
            <a:r>
              <a:rPr b="1" spc="3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spc="-65" dirty="0">
                <a:solidFill>
                  <a:srgbClr val="0070C0"/>
                </a:solidFill>
                <a:latin typeface="Calisto MT" panose="02040603050505030304" pitchFamily="18" charset="0"/>
              </a:rPr>
              <a:t>es</a:t>
            </a:r>
            <a:r>
              <a:rPr b="1" spc="-4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un</a:t>
            </a:r>
            <a:r>
              <a:rPr b="1" spc="-8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algoritmo</a:t>
            </a:r>
            <a:r>
              <a:rPr b="1" spc="-3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spc="-50" dirty="0">
                <a:solidFill>
                  <a:srgbClr val="0070C0"/>
                </a:solidFill>
                <a:latin typeface="Calisto MT" panose="02040603050505030304" pitchFamily="18" charset="0"/>
              </a:rPr>
              <a:t>de</a:t>
            </a:r>
            <a:r>
              <a:rPr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spc="-45" dirty="0">
                <a:solidFill>
                  <a:srgbClr val="0070C0"/>
                </a:solidFill>
                <a:latin typeface="Calisto MT" panose="02040603050505030304" pitchFamily="18" charset="0"/>
              </a:rPr>
              <a:t>ordenamiento?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822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246669"/>
            <a:ext cx="20903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r>
              <a:rPr sz="1200" spc="3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 </a:t>
            </a:r>
            <a:r>
              <a:rPr sz="1200" spc="-70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General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407946"/>
            <a:ext cx="428434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l">
              <a:lnSpc>
                <a:spcPct val="102600"/>
              </a:lnSpc>
              <a:spcBef>
                <a:spcPts val="55"/>
              </a:spcBef>
            </a:pPr>
            <a:r>
              <a:rPr lang="es-ES" sz="1100" dirty="0">
                <a:latin typeface="Calisto MT" panose="02040603050505030304" pitchFamily="18" charset="0"/>
                <a:cs typeface="Tahoma"/>
              </a:rPr>
              <a:t>Un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30" dirty="0">
                <a:latin typeface="Calisto MT" panose="02040603050505030304" pitchFamily="18" charset="0"/>
                <a:cs typeface="Tahoma"/>
              </a:rPr>
              <a:t>algoritmo</a:t>
            </a:r>
            <a:r>
              <a:rPr lang="es-ES" sz="1100" spc="-35" dirty="0">
                <a:latin typeface="Calisto MT" panose="02040603050505030304" pitchFamily="18" charset="0"/>
                <a:cs typeface="Tahoma"/>
              </a:rPr>
              <a:t> de 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ordenamiento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reorganiza</a:t>
            </a:r>
            <a:r>
              <a:rPr lang="es-ES"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10" dirty="0">
                <a:latin typeface="Calisto MT" panose="02040603050505030304" pitchFamily="18" charset="0"/>
                <a:cs typeface="Tahoma"/>
              </a:rPr>
              <a:t>los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50" dirty="0">
                <a:latin typeface="Calisto MT" panose="02040603050505030304" pitchFamily="18" charset="0"/>
                <a:cs typeface="Tahoma"/>
              </a:rPr>
              <a:t>elementos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35" dirty="0">
                <a:latin typeface="Calisto MT" panose="02040603050505030304" pitchFamily="18" charset="0"/>
                <a:cs typeface="Tahoma"/>
              </a:rPr>
              <a:t>de una </a:t>
            </a:r>
            <a:r>
              <a:rPr lang="es-ES"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50" dirty="0">
                <a:latin typeface="Calisto MT" panose="02040603050505030304" pitchFamily="18" charset="0"/>
                <a:cs typeface="Tahoma"/>
              </a:rPr>
              <a:t>o 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arreglo </a:t>
            </a:r>
            <a:r>
              <a:rPr lang="es-ES" sz="1100" spc="-75" dirty="0">
                <a:latin typeface="Calisto MT" panose="02040603050505030304" pitchFamily="18" charset="0"/>
                <a:cs typeface="Tahoma"/>
              </a:rPr>
              <a:t>según</a:t>
            </a:r>
            <a:r>
              <a:rPr lang="es-ES" sz="1100" spc="2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10" dirty="0">
                <a:latin typeface="Calisto MT" panose="02040603050505030304" pitchFamily="18" charset="0"/>
                <a:cs typeface="Tahoma"/>
              </a:rPr>
              <a:t>un</a:t>
            </a:r>
            <a:r>
              <a:rPr lang="es-ES"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20" dirty="0">
                <a:latin typeface="Calisto MT" panose="02040603050505030304" pitchFamily="18" charset="0"/>
                <a:cs typeface="Tahoma"/>
              </a:rPr>
              <a:t>criterio </a:t>
            </a:r>
            <a:r>
              <a:rPr lang="es-ES" sz="1100" spc="-35" dirty="0">
                <a:latin typeface="Calisto MT" panose="02040603050505030304" pitchFamily="18" charset="0"/>
                <a:cs typeface="Tahoma"/>
              </a:rPr>
              <a:t>definido</a:t>
            </a:r>
            <a:r>
              <a:rPr lang="es-ES"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55" dirty="0">
                <a:latin typeface="Calisto MT" panose="02040603050505030304" pitchFamily="18" charset="0"/>
                <a:cs typeface="Tahoma"/>
              </a:rPr>
              <a:t>generalmente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35" dirty="0">
                <a:latin typeface="Calisto MT" panose="02040603050505030304" pitchFamily="18" charset="0"/>
                <a:cs typeface="Tahoma"/>
              </a:rPr>
              <a:t>de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65" dirty="0">
                <a:latin typeface="Calisto MT" panose="02040603050505030304" pitchFamily="18" charset="0"/>
                <a:cs typeface="Tahoma"/>
              </a:rPr>
              <a:t>menor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dirty="0">
                <a:latin typeface="Calisto MT" panose="02040603050505030304" pitchFamily="18" charset="0"/>
                <a:cs typeface="Tahoma"/>
              </a:rPr>
              <a:t>a</a:t>
            </a:r>
            <a:r>
              <a:rPr lang="es-ES"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10" dirty="0">
                <a:latin typeface="Calisto MT" panose="02040603050505030304" pitchFamily="18" charset="0"/>
                <a:cs typeface="Tahoma"/>
              </a:rPr>
              <a:t>mayor 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mediante 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operaciones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50" dirty="0">
                <a:latin typeface="Calisto MT" panose="02040603050505030304" pitchFamily="18" charset="0"/>
                <a:cs typeface="Tahoma"/>
              </a:rPr>
              <a:t>de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comparación</a:t>
            </a:r>
            <a:r>
              <a:rPr lang="es-ES" sz="1100" spc="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dirty="0">
                <a:latin typeface="Calisto MT" panose="02040603050505030304" pitchFamily="18" charset="0"/>
                <a:cs typeface="Tahoma"/>
              </a:rPr>
              <a:t>o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mediante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55" dirty="0">
                <a:latin typeface="Calisto MT" panose="02040603050505030304" pitchFamily="18" charset="0"/>
                <a:cs typeface="Tahoma"/>
              </a:rPr>
              <a:t>procesos</a:t>
            </a:r>
            <a:r>
              <a:rPr lang="es-ES"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especializados </a:t>
            </a:r>
            <a:r>
              <a:rPr lang="es-ES"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10" dirty="0">
                <a:latin typeface="Calisto MT" panose="02040603050505030304" pitchFamily="18" charset="0"/>
                <a:cs typeface="Tahoma"/>
              </a:rPr>
              <a:t>no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50" dirty="0">
                <a:latin typeface="Calisto MT" panose="02040603050505030304" pitchFamily="18" charset="0"/>
                <a:cs typeface="Tahoma"/>
              </a:rPr>
              <a:t>comparan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directamente</a:t>
            </a:r>
            <a:r>
              <a:rPr lang="es-ES"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25" dirty="0">
                <a:latin typeface="Calisto MT" panose="02040603050505030304" pitchFamily="18" charset="0"/>
                <a:cs typeface="Tahoma"/>
              </a:rPr>
              <a:t>todos</a:t>
            </a:r>
            <a:r>
              <a:rPr lang="es-ES"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10" dirty="0">
                <a:latin typeface="Calisto MT" panose="02040603050505030304" pitchFamily="18" charset="0"/>
                <a:cs typeface="Tahoma"/>
              </a:rPr>
              <a:t>los</a:t>
            </a:r>
            <a:r>
              <a:rPr lang="es-ES" sz="1100" spc="-4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ES" sz="1100" spc="-10" dirty="0">
                <a:latin typeface="Calisto MT" panose="02040603050505030304" pitchFamily="18" charset="0"/>
                <a:cs typeface="Tahoma"/>
              </a:rPr>
              <a:t>datos.</a:t>
            </a:r>
            <a:endParaRPr lang="es-ES" sz="1100" dirty="0">
              <a:latin typeface="Calisto MT" panose="02040603050505030304" pitchFamily="18" charset="0"/>
              <a:cs typeface="Tahoma"/>
            </a:endParaRPr>
          </a:p>
        </p:txBody>
      </p:sp>
      <p:pic>
        <p:nvPicPr>
          <p:cNvPr id="2052" name="Picture 4" descr="Algoritmos de ordenamiento">
            <a:extLst>
              <a:ext uri="{FF2B5EF4-FFF2-40B4-BE49-F238E27FC236}">
                <a16:creationId xmlns:a16="http://schemas.microsoft.com/office/drawing/2014/main" id="{29EFDAFE-BA8C-D19D-FE97-92B4DB56CC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295" y="2187575"/>
            <a:ext cx="2491109" cy="11259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noFill/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6881" y="434975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solidFill>
                  <a:srgbClr val="0070C0"/>
                </a:solidFill>
                <a:latin typeface="Calisto MT" panose="02040603050505030304" pitchFamily="18" charset="0"/>
              </a:rPr>
              <a:t>Bubble</a:t>
            </a:r>
            <a:r>
              <a:rPr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3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18221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246669"/>
            <a:ext cx="9473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407946"/>
            <a:ext cx="4356100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spc="-20" dirty="0">
                <a:latin typeface="Calisto MT" panose="02040603050505030304" pitchFamily="18" charset="0"/>
                <a:cs typeface="Tahoma"/>
              </a:rPr>
              <a:t>Bubble</a:t>
            </a:r>
            <a:r>
              <a:rPr sz="1100" spc="-7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es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un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algoritmo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de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comp</a:t>
            </a:r>
            <a:r>
              <a:rPr sz="1100" spc="-80" dirty="0">
                <a:latin typeface="Calisto MT" panose="02040603050505030304" pitchFamily="18" charset="0"/>
                <a:cs typeface="Tahoma"/>
              </a:rPr>
              <a:t>a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r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aci</a:t>
            </a:r>
            <a:r>
              <a:rPr sz="1100" spc="-66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on</a:t>
            </a:r>
            <a:r>
              <a:rPr sz="1100" spc="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simple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revisa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repetidamente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cada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par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de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elementos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adyacentes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los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intercambia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si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es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t</a:t>
            </a:r>
            <a:r>
              <a:rPr sz="1100" spc="-625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an</a:t>
            </a:r>
            <a:r>
              <a:rPr sz="1100" spc="-1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en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el</a:t>
            </a:r>
            <a:r>
              <a:rPr sz="1100" spc="-8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orden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incorrecto.</a:t>
            </a:r>
            <a:r>
              <a:rPr sz="1100" spc="7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Este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proceso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contin</a:t>
            </a:r>
            <a:r>
              <a:rPr sz="1100" spc="-645" dirty="0">
                <a:latin typeface="Calisto MT" panose="02040603050505030304" pitchFamily="18" charset="0"/>
                <a:cs typeface="Tahoma"/>
              </a:rPr>
              <a:t>u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a</a:t>
            </a:r>
            <a:r>
              <a:rPr sz="1100" spc="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hasta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ya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no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se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requieren intercambios,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lo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significa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es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t</a:t>
            </a:r>
            <a:r>
              <a:rPr sz="1100" spc="-65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a</a:t>
            </a:r>
            <a:r>
              <a:rPr sz="1100" spc="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ordenada.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ubble Sort - COMPUTER SCIENCE BYTESCOMPUTER SCIENCE BYTES">
            <a:extLst>
              <a:ext uri="{FF2B5EF4-FFF2-40B4-BE49-F238E27FC236}">
                <a16:creationId xmlns:a16="http://schemas.microsoft.com/office/drawing/2014/main" id="{2BC8051B-327A-39F8-2D53-9EB498EE7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38" y="587375"/>
            <a:ext cx="355002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86A25E-990E-82D7-8587-693F3174A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67941"/>
            <a:ext cx="3115793" cy="3124867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6086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197" y="554040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45" dirty="0">
                <a:solidFill>
                  <a:srgbClr val="0070C0"/>
                </a:solidFill>
                <a:latin typeface="Calisto MT" panose="02040603050505030304" pitchFamily="18" charset="0"/>
              </a:rPr>
              <a:t>Insertion</a:t>
            </a:r>
            <a:r>
              <a:rPr b="1" spc="-3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2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8705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15503"/>
            <a:ext cx="7949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43974"/>
            <a:ext cx="4432935" cy="65332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147955">
              <a:lnSpc>
                <a:spcPct val="102600"/>
              </a:lnSpc>
              <a:spcBef>
                <a:spcPts val="1100"/>
              </a:spcBef>
            </a:pPr>
            <a:r>
              <a:rPr sz="1100" spc="-45" dirty="0">
                <a:latin typeface="Calisto MT" panose="02040603050505030304" pitchFamily="18" charset="0"/>
                <a:cs typeface="Tahoma"/>
              </a:rPr>
              <a:t>Insertion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construye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ordenada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tomando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un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elemento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vez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e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inser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t</a:t>
            </a:r>
            <a:r>
              <a:rPr sz="1100" spc="-64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andolo</a:t>
            </a:r>
            <a:r>
              <a:rPr sz="110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en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p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osici</a:t>
            </a:r>
            <a:r>
              <a:rPr sz="1100" spc="-66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on</a:t>
            </a:r>
            <a:r>
              <a:rPr sz="1100" spc="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correcta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de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parte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ordenada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restante.</a:t>
            </a:r>
            <a:r>
              <a:rPr sz="1100" spc="9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Es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eficiente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cuando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ya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es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t</a:t>
            </a:r>
            <a:r>
              <a:rPr sz="1100" spc="-65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a</a:t>
            </a:r>
            <a:r>
              <a:rPr sz="1100" spc="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parcialmente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ordenada.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5300" y="59878"/>
            <a:ext cx="2489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Insertion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125" dirty="0">
                <a:solidFill>
                  <a:srgbClr val="FFFFFF"/>
                </a:solidFill>
                <a:latin typeface="Tahoma"/>
                <a:cs typeface="Tahoma"/>
              </a:rPr>
              <a:t>—</a:t>
            </a:r>
            <a:r>
              <a:rPr sz="1400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Visual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dirty="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sz="14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sz="1400" spc="-790" dirty="0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´digo</a:t>
            </a:r>
            <a:endParaRPr sz="1400" dirty="0">
              <a:latin typeface="Tahoma"/>
              <a:cs typeface="Tahoma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42DEC28-AE6B-0036-79D7-97C1B097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89" t="3719" r="15290" b="13636"/>
          <a:stretch>
            <a:fillRect/>
          </a:stretch>
        </p:blipFill>
        <p:spPr>
          <a:xfrm>
            <a:off x="247650" y="552226"/>
            <a:ext cx="4114800" cy="235629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4557185-75FF-484D-3FD4-D048B2C95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71" y="244474"/>
            <a:ext cx="3373357" cy="2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776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998" y="551148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30" dirty="0">
                <a:solidFill>
                  <a:srgbClr val="0070C0"/>
                </a:solidFill>
                <a:latin typeface="Calisto MT" panose="02040603050505030304" pitchFamily="18" charset="0"/>
              </a:rPr>
              <a:t>Selection</a:t>
            </a:r>
            <a:r>
              <a:rPr b="1" spc="-2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2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8705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15503"/>
            <a:ext cx="18617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43974"/>
            <a:ext cx="4432935" cy="65421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256540" algn="just">
              <a:lnSpc>
                <a:spcPct val="102600"/>
              </a:lnSpc>
              <a:spcBef>
                <a:spcPts val="1100"/>
              </a:spcBef>
            </a:pPr>
            <a:r>
              <a:rPr sz="1100" spc="-30" dirty="0">
                <a:latin typeface="Calisto MT" panose="02040603050505030304" pitchFamily="18" charset="0"/>
                <a:cs typeface="Tahoma"/>
              </a:rPr>
              <a:t>Selection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divide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en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dos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partes:</a:t>
            </a:r>
            <a:r>
              <a:rPr sz="1100" spc="4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ordenada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no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ordenada.</a:t>
            </a:r>
            <a:r>
              <a:rPr sz="1100" spc="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En cada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paso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selecciona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el</a:t>
            </a:r>
            <a:r>
              <a:rPr sz="1100" spc="-8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elemento </a:t>
            </a:r>
            <a:r>
              <a:rPr sz="1100" spc="-140" dirty="0">
                <a:latin typeface="Calisto MT" panose="02040603050505030304" pitchFamily="18" charset="0"/>
                <a:cs typeface="Tahoma"/>
              </a:rPr>
              <a:t>m</a:t>
            </a:r>
            <a:r>
              <a:rPr sz="1100" spc="-715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120" dirty="0">
                <a:latin typeface="Calisto MT" panose="02040603050505030304" pitchFamily="18" charset="0"/>
                <a:cs typeface="Tahoma"/>
              </a:rPr>
              <a:t>as</a:t>
            </a:r>
            <a:r>
              <a:rPr sz="1100" spc="18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p</a:t>
            </a:r>
            <a:r>
              <a:rPr sz="1100" spc="-80" dirty="0">
                <a:latin typeface="Calisto MT" panose="02040603050505030304" pitchFamily="18" charset="0"/>
                <a:cs typeface="Tahoma"/>
              </a:rPr>
              <a:t>eque</a:t>
            </a:r>
            <a:r>
              <a:rPr sz="1100" spc="-690" dirty="0">
                <a:latin typeface="Calisto MT" panose="02040603050505030304" pitchFamily="18" charset="0"/>
                <a:cs typeface="Tahoma"/>
              </a:rPr>
              <a:t>n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˜</a:t>
            </a:r>
            <a:r>
              <a:rPr sz="1100" spc="-80" dirty="0">
                <a:latin typeface="Calisto MT" panose="02040603050505030304" pitchFamily="18" charset="0"/>
                <a:cs typeface="Tahoma"/>
              </a:rPr>
              <a:t>o</a:t>
            </a:r>
            <a:r>
              <a:rPr sz="1100" spc="6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de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los no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ordenados</a:t>
            </a:r>
            <a:r>
              <a:rPr sz="1100" spc="-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lo 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coloca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al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final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de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parte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ordenada.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076CAD3D-129F-1A98-4F89-3C6DA0731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0"/>
            <a:ext cx="3352800" cy="34607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F86A59D-E4B6-7670-02C5-76C00A26E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0"/>
            <a:ext cx="3429000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505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998" y="437126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10" dirty="0">
                <a:solidFill>
                  <a:srgbClr val="0070C0"/>
                </a:solidFill>
                <a:latin typeface="Calisto MT" panose="02040603050505030304" pitchFamily="18" charset="0"/>
              </a:rPr>
              <a:t>Shell</a:t>
            </a:r>
            <a:r>
              <a:rPr b="1" spc="-4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4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8705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15503"/>
            <a:ext cx="19379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43974"/>
            <a:ext cx="4432935" cy="65421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183515">
              <a:lnSpc>
                <a:spcPct val="102600"/>
              </a:lnSpc>
              <a:spcBef>
                <a:spcPts val="1100"/>
              </a:spcBef>
            </a:pPr>
            <a:r>
              <a:rPr sz="1100" spc="-10" dirty="0">
                <a:latin typeface="Calisto MT" panose="02040603050505030304" pitchFamily="18" charset="0"/>
                <a:cs typeface="Tahoma"/>
              </a:rPr>
              <a:t>Shell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es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una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mejora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de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Insertion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ordena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pares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de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elementos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separados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por distancias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(intervalos </a:t>
            </a:r>
            <a:r>
              <a:rPr sz="1100" dirty="0">
                <a:latin typeface="Calisto MT" panose="02040603050505030304" pitchFamily="18" charset="0"/>
                <a:cs typeface="Tahoma"/>
              </a:rPr>
              <a:t>o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gaps)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mayores,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reduciendo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gradualmente</a:t>
            </a:r>
            <a:r>
              <a:rPr sz="1100" spc="-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el</a:t>
            </a:r>
            <a:r>
              <a:rPr sz="1100" spc="-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espacio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entre</a:t>
            </a:r>
            <a:r>
              <a:rPr sz="1100" spc="-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comparaciones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para</a:t>
            </a:r>
            <a:r>
              <a:rPr sz="1100" spc="-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mejorar</a:t>
            </a:r>
            <a:r>
              <a:rPr sz="1100" spc="-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eficiencia.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44C4A7-500F-BC2B-7377-51B748AC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64" y="0"/>
            <a:ext cx="4047572" cy="34607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197" y="630655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Quick</a:t>
            </a:r>
            <a:r>
              <a:rPr b="1" spc="-2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2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8705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15503"/>
            <a:ext cx="18617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43974"/>
            <a:ext cx="4432935" cy="65332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184785" algn="just">
              <a:lnSpc>
                <a:spcPct val="102600"/>
              </a:lnSpc>
              <a:spcBef>
                <a:spcPts val="1100"/>
              </a:spcBef>
            </a:pPr>
            <a:r>
              <a:rPr sz="1100" dirty="0">
                <a:latin typeface="Calisto MT" panose="02040603050505030304" pitchFamily="18" charset="0"/>
                <a:cs typeface="Tahoma"/>
              </a:rPr>
              <a:t>Quick</a:t>
            </a:r>
            <a:r>
              <a:rPr sz="1100" spc="-9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utiliza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t</a:t>
            </a:r>
            <a:r>
              <a:rPr sz="1100" spc="-615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ecnica</a:t>
            </a:r>
            <a:r>
              <a:rPr sz="1100" spc="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de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“divide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vence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r</a:t>
            </a:r>
            <a:r>
              <a:rPr sz="1100" spc="-64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as”,</a:t>
            </a:r>
            <a:r>
              <a:rPr sz="1100" spc="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eligiendo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un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pivote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y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particionando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para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los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elementos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menores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queden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antes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los 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mayores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desp</a:t>
            </a:r>
            <a:r>
              <a:rPr sz="1100" spc="-100" dirty="0">
                <a:latin typeface="Calisto MT" panose="02040603050505030304" pitchFamily="18" charset="0"/>
                <a:cs typeface="Tahoma"/>
              </a:rPr>
              <a:t>u</a:t>
            </a:r>
            <a:r>
              <a:rPr sz="1100" spc="-64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es,</a:t>
            </a:r>
            <a:r>
              <a:rPr sz="1100" spc="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luego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ordena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recursivamente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cada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sublista.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E3707769-BDFE-B43C-2587-0CFAF1C9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10100" cy="34607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F242C3B-6F4F-3093-567F-393473009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0"/>
            <a:ext cx="3657600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1639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197" y="682828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20" dirty="0">
                <a:solidFill>
                  <a:srgbClr val="0070C0"/>
                </a:solidFill>
                <a:latin typeface="Calisto MT" panose="02040603050505030304" pitchFamily="18" charset="0"/>
              </a:rPr>
              <a:t>Merge</a:t>
            </a:r>
            <a:r>
              <a:rPr b="1" spc="-3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2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9782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26273"/>
            <a:ext cx="21665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54759"/>
            <a:ext cx="4432935" cy="654218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453390" algn="just">
              <a:lnSpc>
                <a:spcPct val="102600"/>
              </a:lnSpc>
              <a:spcBef>
                <a:spcPts val="1100"/>
              </a:spcBef>
            </a:pPr>
            <a:r>
              <a:rPr sz="1100" spc="-20" dirty="0">
                <a:latin typeface="Calisto MT" panose="02040603050505030304" pitchFamily="18" charset="0"/>
                <a:cs typeface="Tahoma"/>
              </a:rPr>
              <a:t>Merge</a:t>
            </a:r>
            <a:r>
              <a:rPr sz="1100" spc="-7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tamb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i</a:t>
            </a:r>
            <a:r>
              <a:rPr sz="1100" spc="-615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en</a:t>
            </a:r>
            <a:r>
              <a:rPr sz="1100" spc="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aplica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“divide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vence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r</a:t>
            </a:r>
            <a:r>
              <a:rPr sz="1100" spc="-64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as”,</a:t>
            </a:r>
            <a:r>
              <a:rPr sz="1100" spc="1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dividiendo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lista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en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mitades,</a:t>
            </a:r>
            <a:r>
              <a:rPr sz="1100" spc="-55" dirty="0">
                <a:latin typeface="Calisto MT" panose="02040603050505030304" pitchFamily="18" charset="0"/>
                <a:cs typeface="Tahoma"/>
              </a:rPr>
              <a:t> ordenando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cada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una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luego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fusio</a:t>
            </a:r>
            <a:r>
              <a:rPr sz="1100" spc="-70" dirty="0">
                <a:latin typeface="Calisto MT" panose="02040603050505030304" pitchFamily="18" charset="0"/>
                <a:cs typeface="Tahoma"/>
              </a:rPr>
              <a:t>n</a:t>
            </a:r>
            <a:r>
              <a:rPr sz="1100" spc="-645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andolas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en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una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sola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lista ordenada.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9374989-B493-AF38-8E16-32F8910A87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r="5371" b="10330"/>
          <a:stretch>
            <a:fillRect/>
          </a:stretch>
        </p:blipFill>
        <p:spPr>
          <a:xfrm>
            <a:off x="704850" y="261937"/>
            <a:ext cx="3200400" cy="293687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C70A7BF-BCB9-AA58-8EFA-3D033B117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02" y="0"/>
            <a:ext cx="3381496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71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197" y="551148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Radix</a:t>
            </a:r>
            <a:r>
              <a:rPr b="1" spc="-45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r>
              <a:rPr b="1" dirty="0">
                <a:solidFill>
                  <a:srgbClr val="0070C0"/>
                </a:solidFill>
                <a:latin typeface="Calisto MT" panose="02040603050505030304" pitchFamily="18" charset="0"/>
              </a:rPr>
              <a:t>Sort</a:t>
            </a:r>
            <a:r>
              <a:rPr b="1" spc="-40" dirty="0">
                <a:solidFill>
                  <a:srgbClr val="0070C0"/>
                </a:solidFill>
                <a:latin typeface="Calisto MT" panose="02040603050505030304" pitchFamily="18" charset="0"/>
              </a:rPr>
              <a:t> </a:t>
            </a:r>
            <a:endParaRPr b="1" spc="-30" dirty="0">
              <a:solidFill>
                <a:srgbClr val="0070C0"/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287055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4432566" y="187823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0046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38544" y="1315503"/>
            <a:ext cx="1937906" cy="1415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Definici</a:t>
            </a:r>
            <a:r>
              <a:rPr sz="1200" spc="-70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o</a:t>
            </a:r>
            <a:r>
              <a:rPr sz="1200" spc="-5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´</a:t>
            </a:r>
            <a:r>
              <a:rPr sz="1200" spc="-45" dirty="0">
                <a:solidFill>
                  <a:srgbClr val="FFFFFF"/>
                </a:solidFill>
                <a:latin typeface="Calisto MT" panose="02040603050505030304" pitchFamily="18" charset="0"/>
                <a:cs typeface="Tahoma"/>
              </a:rPr>
              <a:t>n</a:t>
            </a:r>
            <a:endParaRPr sz="1200" dirty="0">
              <a:latin typeface="Calisto MT" panose="02040603050505030304" pitchFamily="18" charset="0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43974"/>
            <a:ext cx="4432935" cy="653320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R="145415">
              <a:lnSpc>
                <a:spcPct val="102600"/>
              </a:lnSpc>
              <a:spcBef>
                <a:spcPts val="1100"/>
              </a:spcBef>
            </a:pPr>
            <a:r>
              <a:rPr sz="1100" spc="-10" dirty="0">
                <a:latin typeface="Calisto MT" panose="02040603050505030304" pitchFamily="18" charset="0"/>
                <a:cs typeface="Tahoma"/>
              </a:rPr>
              <a:t>Radix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Sort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75" dirty="0">
                <a:latin typeface="Calisto MT" panose="02040603050505030304" pitchFamily="18" charset="0"/>
                <a:cs typeface="Tahoma"/>
              </a:rPr>
              <a:t>es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 un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algoritmo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no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comparativo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que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60" dirty="0">
                <a:latin typeface="Calisto MT" panose="02040603050505030304" pitchFamily="18" charset="0"/>
                <a:cs typeface="Tahoma"/>
              </a:rPr>
              <a:t>ordena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elementos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procesando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5" dirty="0">
                <a:latin typeface="Calisto MT" panose="02040603050505030304" pitchFamily="18" charset="0"/>
                <a:cs typeface="Tahoma"/>
              </a:rPr>
              <a:t>sus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lang="es-CO" sz="1100" spc="-105" dirty="0">
                <a:latin typeface="Calisto MT" panose="02040603050505030304" pitchFamily="18" charset="0"/>
                <a:cs typeface="Tahoma"/>
              </a:rPr>
              <a:t>dígitos</a:t>
            </a:r>
            <a:r>
              <a:rPr sz="1100" spc="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5" dirty="0">
                <a:latin typeface="Calisto MT" panose="02040603050505030304" pitchFamily="18" charset="0"/>
                <a:cs typeface="Tahoma"/>
              </a:rPr>
              <a:t>individuales,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90" dirty="0">
                <a:latin typeface="Calisto MT" panose="02040603050505030304" pitchFamily="18" charset="0"/>
                <a:cs typeface="Tahoma"/>
              </a:rPr>
              <a:t>o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rgani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z</a:t>
            </a:r>
            <a:r>
              <a:rPr sz="1100" spc="-65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andolos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primero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por</a:t>
            </a:r>
            <a:r>
              <a:rPr sz="1100" spc="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posiciones 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menos</a:t>
            </a:r>
            <a:r>
              <a:rPr sz="1100" spc="-2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significativas</a:t>
            </a:r>
            <a:r>
              <a:rPr sz="1100" spc="-4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dirty="0">
                <a:latin typeface="Calisto MT" panose="02040603050505030304" pitchFamily="18" charset="0"/>
                <a:cs typeface="Tahoma"/>
              </a:rPr>
              <a:t>y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50" dirty="0">
                <a:latin typeface="Calisto MT" panose="02040603050505030304" pitchFamily="18" charset="0"/>
                <a:cs typeface="Tahoma"/>
              </a:rPr>
              <a:t>luego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30" dirty="0">
                <a:latin typeface="Calisto MT" panose="02040603050505030304" pitchFamily="18" charset="0"/>
                <a:cs typeface="Tahoma"/>
              </a:rPr>
              <a:t>por</a:t>
            </a:r>
            <a:r>
              <a:rPr sz="1100" spc="-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las</a:t>
            </a:r>
            <a:r>
              <a:rPr sz="1100" spc="-20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85" dirty="0">
                <a:latin typeface="Calisto MT" panose="02040603050505030304" pitchFamily="18" charset="0"/>
                <a:cs typeface="Tahoma"/>
              </a:rPr>
              <a:t>m</a:t>
            </a:r>
            <a:r>
              <a:rPr sz="1100" spc="-660" dirty="0">
                <a:latin typeface="Calisto MT" panose="02040603050505030304" pitchFamily="18" charset="0"/>
                <a:cs typeface="Tahoma"/>
              </a:rPr>
              <a:t>´</a:t>
            </a:r>
            <a:r>
              <a:rPr sz="1100" spc="-65" dirty="0">
                <a:latin typeface="Calisto MT" panose="02040603050505030304" pitchFamily="18" charset="0"/>
                <a:cs typeface="Tahoma"/>
              </a:rPr>
              <a:t>as</a:t>
            </a:r>
            <a:r>
              <a:rPr sz="1100" spc="15" dirty="0">
                <a:latin typeface="Calisto MT" panose="02040603050505030304" pitchFamily="18" charset="0"/>
                <a:cs typeface="Tahoma"/>
              </a:rPr>
              <a:t> </a:t>
            </a:r>
            <a:r>
              <a:rPr sz="1100" spc="-10" dirty="0">
                <a:latin typeface="Calisto MT" panose="02040603050505030304" pitchFamily="18" charset="0"/>
                <a:cs typeface="Tahoma"/>
              </a:rPr>
              <a:t>significativas.</a:t>
            </a:r>
            <a:endParaRPr sz="1100" dirty="0">
              <a:latin typeface="Calisto MT" panose="02040603050505030304" pitchFamily="18" charset="0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2BE0F43E-19E8-2D70-77FF-0C26810241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445" t="3761" r="12094" b="16972"/>
          <a:stretch>
            <a:fillRect/>
          </a:stretch>
        </p:blipFill>
        <p:spPr>
          <a:xfrm>
            <a:off x="704299" y="168275"/>
            <a:ext cx="3201501" cy="31242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750DDC9-4F86-B308-5245-D923A6DC6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83" y="0"/>
            <a:ext cx="3230934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473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8037" y="587375"/>
            <a:ext cx="299402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b="1" spc="-45" dirty="0">
                <a:solidFill>
                  <a:srgbClr val="0070C0"/>
                </a:solidFill>
                <a:latin typeface="Calisto MT" panose="02040603050505030304" pitchFamily="18" charset="0"/>
              </a:rPr>
              <a:t>Conclusione</a:t>
            </a:r>
            <a:r>
              <a:rPr b="1" spc="-45" dirty="0">
                <a:solidFill>
                  <a:srgbClr val="0070C0"/>
                </a:solidFill>
              </a:rPr>
              <a:t>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06893"/>
            <a:ext cx="65265" cy="6526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20955">
              <a:lnSpc>
                <a:spcPct val="102699"/>
              </a:lnSpc>
              <a:spcBef>
                <a:spcPts val="55"/>
              </a:spcBef>
            </a:pPr>
            <a:r>
              <a:rPr spc="-10" dirty="0">
                <a:latin typeface="Calisto MT" panose="02040603050505030304" pitchFamily="18" charset="0"/>
              </a:rPr>
              <a:t>Cada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30" dirty="0">
                <a:latin typeface="Calisto MT" panose="02040603050505030304" pitchFamily="18" charset="0"/>
              </a:rPr>
              <a:t>algoritmo </a:t>
            </a:r>
            <a:r>
              <a:rPr spc="-25" dirty="0">
                <a:latin typeface="Calisto MT" panose="02040603050505030304" pitchFamily="18" charset="0"/>
              </a:rPr>
              <a:t>tiene</a:t>
            </a:r>
            <a:r>
              <a:rPr spc="-30" dirty="0">
                <a:latin typeface="Calisto MT" panose="02040603050505030304" pitchFamily="18" charset="0"/>
              </a:rPr>
              <a:t> </a:t>
            </a:r>
            <a:r>
              <a:rPr spc="-40" dirty="0">
                <a:latin typeface="Calisto MT" panose="02040603050505030304" pitchFamily="18" charset="0"/>
              </a:rPr>
              <a:t>ventajas </a:t>
            </a:r>
            <a:r>
              <a:rPr dirty="0">
                <a:latin typeface="Calisto MT" panose="02040603050505030304" pitchFamily="18" charset="0"/>
              </a:rPr>
              <a:t>y</a:t>
            </a:r>
            <a:r>
              <a:rPr spc="-30" dirty="0">
                <a:latin typeface="Calisto MT" panose="02040603050505030304" pitchFamily="18" charset="0"/>
              </a:rPr>
              <a:t> </a:t>
            </a:r>
            <a:r>
              <a:rPr spc="-50" dirty="0">
                <a:latin typeface="Calisto MT" panose="02040603050505030304" pitchFamily="18" charset="0"/>
              </a:rPr>
              <a:t>desventajas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55" dirty="0">
                <a:latin typeface="Calisto MT" panose="02040603050505030304" pitchFamily="18" charset="0"/>
              </a:rPr>
              <a:t>dependiendo</a:t>
            </a:r>
            <a:r>
              <a:rPr spc="-30" dirty="0">
                <a:latin typeface="Calisto MT" panose="02040603050505030304" pitchFamily="18" charset="0"/>
              </a:rPr>
              <a:t> </a:t>
            </a:r>
            <a:r>
              <a:rPr spc="-20" dirty="0">
                <a:latin typeface="Calisto MT" panose="02040603050505030304" pitchFamily="18" charset="0"/>
              </a:rPr>
              <a:t>del</a:t>
            </a:r>
            <a:r>
              <a:rPr spc="-30" dirty="0">
                <a:latin typeface="Calisto MT" panose="02040603050505030304" pitchFamily="18" charset="0"/>
              </a:rPr>
              <a:t> tam</a:t>
            </a:r>
            <a:r>
              <a:rPr spc="-40" dirty="0">
                <a:latin typeface="Calisto MT" panose="02040603050505030304" pitchFamily="18" charset="0"/>
              </a:rPr>
              <a:t>a</a:t>
            </a:r>
            <a:r>
              <a:rPr spc="-640" dirty="0">
                <a:latin typeface="Calisto MT" panose="02040603050505030304" pitchFamily="18" charset="0"/>
              </a:rPr>
              <a:t>n</a:t>
            </a:r>
            <a:r>
              <a:rPr spc="-25" dirty="0">
                <a:latin typeface="Calisto MT" panose="02040603050505030304" pitchFamily="18" charset="0"/>
              </a:rPr>
              <a:t>˜</a:t>
            </a:r>
            <a:r>
              <a:rPr spc="-30" dirty="0">
                <a:latin typeface="Calisto MT" panose="02040603050505030304" pitchFamily="18" charset="0"/>
              </a:rPr>
              <a:t>o</a:t>
            </a:r>
            <a:r>
              <a:rPr spc="-120" dirty="0">
                <a:latin typeface="Calisto MT" panose="02040603050505030304" pitchFamily="18" charset="0"/>
              </a:rPr>
              <a:t> </a:t>
            </a:r>
            <a:r>
              <a:rPr dirty="0">
                <a:latin typeface="Calisto MT" panose="02040603050505030304" pitchFamily="18" charset="0"/>
              </a:rPr>
              <a:t>y</a:t>
            </a:r>
            <a:r>
              <a:rPr spc="-40" dirty="0">
                <a:latin typeface="Calisto MT" panose="02040603050505030304" pitchFamily="18" charset="0"/>
              </a:rPr>
              <a:t> estado</a:t>
            </a:r>
            <a:r>
              <a:rPr spc="-35" dirty="0">
                <a:latin typeface="Calisto MT" panose="02040603050505030304" pitchFamily="18" charset="0"/>
              </a:rPr>
              <a:t> de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dirty="0">
                <a:latin typeface="Calisto MT" panose="02040603050505030304" pitchFamily="18" charset="0"/>
              </a:rPr>
              <a:t>la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10" dirty="0">
                <a:latin typeface="Calisto MT" panose="02040603050505030304" pitchFamily="18" charset="0"/>
              </a:rPr>
              <a:t>lista.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pc="-25" dirty="0">
                <a:latin typeface="Calisto MT" panose="02040603050505030304" pitchFamily="18" charset="0"/>
              </a:rPr>
              <a:t>Algoritmos</a:t>
            </a:r>
            <a:r>
              <a:rPr spc="-50" dirty="0">
                <a:latin typeface="Calisto MT" panose="02040603050505030304" pitchFamily="18" charset="0"/>
              </a:rPr>
              <a:t> </a:t>
            </a:r>
            <a:r>
              <a:rPr spc="-45" dirty="0">
                <a:latin typeface="Calisto MT" panose="02040603050505030304" pitchFamily="18" charset="0"/>
              </a:rPr>
              <a:t>como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dirty="0">
                <a:latin typeface="Calisto MT" panose="02040603050505030304" pitchFamily="18" charset="0"/>
              </a:rPr>
              <a:t>Quick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dirty="0">
                <a:latin typeface="Calisto MT" panose="02040603050505030304" pitchFamily="18" charset="0"/>
              </a:rPr>
              <a:t>Sort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dirty="0">
                <a:latin typeface="Calisto MT" panose="02040603050505030304" pitchFamily="18" charset="0"/>
              </a:rPr>
              <a:t>o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20" dirty="0">
                <a:latin typeface="Calisto MT" panose="02040603050505030304" pitchFamily="18" charset="0"/>
              </a:rPr>
              <a:t>Merge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10" dirty="0">
                <a:latin typeface="Calisto MT" panose="02040603050505030304" pitchFamily="18" charset="0"/>
              </a:rPr>
              <a:t>Sort</a:t>
            </a:r>
            <a:r>
              <a:rPr spc="-45" dirty="0">
                <a:latin typeface="Calisto MT" panose="02040603050505030304" pitchFamily="18" charset="0"/>
              </a:rPr>
              <a:t> ofrecen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55" dirty="0">
                <a:latin typeface="Calisto MT" panose="02040603050505030304" pitchFamily="18" charset="0"/>
              </a:rPr>
              <a:t>mejor</a:t>
            </a:r>
            <a:r>
              <a:rPr spc="-30" dirty="0">
                <a:latin typeface="Calisto MT" panose="02040603050505030304" pitchFamily="18" charset="0"/>
              </a:rPr>
              <a:t> </a:t>
            </a:r>
            <a:r>
              <a:rPr spc="-40" dirty="0">
                <a:latin typeface="Calisto MT" panose="02040603050505030304" pitchFamily="18" charset="0"/>
              </a:rPr>
              <a:t>rendimiento </a:t>
            </a:r>
            <a:r>
              <a:rPr spc="-50" dirty="0">
                <a:latin typeface="Calisto MT" panose="02040603050505030304" pitchFamily="18" charset="0"/>
              </a:rPr>
              <a:t>promedio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45" dirty="0">
                <a:latin typeface="Calisto MT" panose="02040603050505030304" pitchFamily="18" charset="0"/>
              </a:rPr>
              <a:t>para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10" dirty="0">
                <a:latin typeface="Calisto MT" panose="02040603050505030304" pitchFamily="18" charset="0"/>
              </a:rPr>
              <a:t>listas</a:t>
            </a:r>
            <a:r>
              <a:rPr spc="-45" dirty="0">
                <a:latin typeface="Calisto MT" panose="02040603050505030304" pitchFamily="18" charset="0"/>
              </a:rPr>
              <a:t> </a:t>
            </a:r>
            <a:r>
              <a:rPr spc="-10" dirty="0">
                <a:latin typeface="Calisto MT" panose="02040603050505030304" pitchFamily="18" charset="0"/>
              </a:rPr>
              <a:t>grandes.</a:t>
            </a:r>
          </a:p>
          <a:p>
            <a:pPr marL="12700" marR="13970">
              <a:lnSpc>
                <a:spcPct val="102600"/>
              </a:lnSpc>
              <a:spcBef>
                <a:spcPts val="300"/>
              </a:spcBef>
            </a:pPr>
            <a:r>
              <a:rPr spc="-10" dirty="0">
                <a:latin typeface="Calisto MT" panose="02040603050505030304" pitchFamily="18" charset="0"/>
              </a:rPr>
              <a:t>Radix</a:t>
            </a:r>
            <a:r>
              <a:rPr spc="-75" dirty="0">
                <a:latin typeface="Calisto MT" panose="02040603050505030304" pitchFamily="18" charset="0"/>
              </a:rPr>
              <a:t> </a:t>
            </a:r>
            <a:r>
              <a:rPr dirty="0">
                <a:latin typeface="Calisto MT" panose="02040603050505030304" pitchFamily="18" charset="0"/>
              </a:rPr>
              <a:t>Sort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70" dirty="0">
                <a:latin typeface="Calisto MT" panose="02040603050505030304" pitchFamily="18" charset="0"/>
              </a:rPr>
              <a:t>puede</a:t>
            </a:r>
            <a:r>
              <a:rPr spc="-20" dirty="0">
                <a:latin typeface="Calisto MT" panose="02040603050505030304" pitchFamily="18" charset="0"/>
              </a:rPr>
              <a:t> </a:t>
            </a:r>
            <a:r>
              <a:rPr spc="-45" dirty="0">
                <a:latin typeface="Calisto MT" panose="02040603050505030304" pitchFamily="18" charset="0"/>
              </a:rPr>
              <a:t>ser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40" dirty="0">
                <a:latin typeface="Calisto MT" panose="02040603050505030304" pitchFamily="18" charset="0"/>
              </a:rPr>
              <a:t>muy </a:t>
            </a:r>
            <a:r>
              <a:rPr spc="-30" dirty="0">
                <a:latin typeface="Calisto MT" panose="02040603050505030304" pitchFamily="18" charset="0"/>
              </a:rPr>
              <a:t>eficiente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45" dirty="0">
                <a:latin typeface="Calisto MT" panose="02040603050505030304" pitchFamily="18" charset="0"/>
              </a:rPr>
              <a:t>cuando</a:t>
            </a:r>
            <a:r>
              <a:rPr spc="-35" dirty="0">
                <a:latin typeface="Calisto MT" panose="02040603050505030304" pitchFamily="18" charset="0"/>
              </a:rPr>
              <a:t> </a:t>
            </a:r>
            <a:r>
              <a:rPr spc="-10" dirty="0">
                <a:latin typeface="Calisto MT" panose="02040603050505030304" pitchFamily="18" charset="0"/>
              </a:rPr>
              <a:t>los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30" dirty="0">
                <a:latin typeface="Calisto MT" panose="02040603050505030304" pitchFamily="18" charset="0"/>
              </a:rPr>
              <a:t>datos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65" dirty="0">
                <a:latin typeface="Calisto MT" panose="02040603050505030304" pitchFamily="18" charset="0"/>
              </a:rPr>
              <a:t>pueden</a:t>
            </a:r>
            <a:r>
              <a:rPr spc="-25" dirty="0">
                <a:latin typeface="Calisto MT" panose="02040603050505030304" pitchFamily="18" charset="0"/>
              </a:rPr>
              <a:t> </a:t>
            </a:r>
            <a:r>
              <a:rPr spc="-30" dirty="0">
                <a:latin typeface="Calisto MT" panose="02040603050505030304" pitchFamily="18" charset="0"/>
              </a:rPr>
              <a:t>dividirse </a:t>
            </a:r>
            <a:r>
              <a:rPr lang="es-CO" spc="-30" dirty="0">
                <a:latin typeface="Calisto MT" panose="02040603050505030304" pitchFamily="18" charset="0"/>
              </a:rPr>
              <a:t>por</a:t>
            </a:r>
            <a:r>
              <a:rPr spc="-40" dirty="0">
                <a:latin typeface="Calisto MT" panose="02040603050505030304" pitchFamily="18" charset="0"/>
              </a:rPr>
              <a:t> </a:t>
            </a:r>
            <a:r>
              <a:rPr spc="-10" dirty="0">
                <a:latin typeface="Calisto MT" panose="02040603050505030304" pitchFamily="18" charset="0"/>
              </a:rPr>
              <a:t>d</a:t>
            </a:r>
            <a:r>
              <a:rPr lang="es-CO" spc="-10" dirty="0">
                <a:latin typeface="Calisto MT" panose="02040603050505030304" pitchFamily="18" charset="0"/>
              </a:rPr>
              <a:t>ı</a:t>
            </a:r>
            <a:r>
              <a:rPr spc="-10" dirty="0">
                <a:latin typeface="Calisto MT" panose="02040603050505030304" pitchFamily="18" charset="0"/>
              </a:rPr>
              <a:t>gitos.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588998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1971116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</TotalTime>
  <Words>457</Words>
  <Application>Microsoft Office PowerPoint</Application>
  <PresentationFormat>Personalizado</PresentationFormat>
  <Paragraphs>50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Calisto MT</vt:lpstr>
      <vt:lpstr>Tahoma</vt:lpstr>
      <vt:lpstr>Office Theme</vt:lpstr>
      <vt:lpstr>Presentación de PowerPoint</vt:lpstr>
      <vt:lpstr>Contenido</vt:lpstr>
      <vt:lpstr>¿Qu´e es un algoritmo de ordenamiento?</vt:lpstr>
      <vt:lpstr>Bubble Sort </vt:lpstr>
      <vt:lpstr>Presentación de PowerPoint</vt:lpstr>
      <vt:lpstr>Presentación de PowerPoint</vt:lpstr>
      <vt:lpstr>Insertion Sort </vt:lpstr>
      <vt:lpstr>Presentación de PowerPoint</vt:lpstr>
      <vt:lpstr>Presentación de PowerPoint</vt:lpstr>
      <vt:lpstr>Selection Sort </vt:lpstr>
      <vt:lpstr>Presentación de PowerPoint</vt:lpstr>
      <vt:lpstr>Presentación de PowerPoint</vt:lpstr>
      <vt:lpstr>Shell Sort </vt:lpstr>
      <vt:lpstr>Presentación de PowerPoint</vt:lpstr>
      <vt:lpstr>Quick Sort </vt:lpstr>
      <vt:lpstr>Presentación de PowerPoint</vt:lpstr>
      <vt:lpstr>Presentación de PowerPoint</vt:lpstr>
      <vt:lpstr>Merge Sort </vt:lpstr>
      <vt:lpstr>Presentación de PowerPoint</vt:lpstr>
      <vt:lpstr>Presentación de PowerPoint</vt:lpstr>
      <vt:lpstr>Radix Sort </vt:lpstr>
      <vt:lpstr>Presentación de PowerPoint</vt:lpstr>
      <vt:lpstr>Presentación de PowerPoint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de Ordenamiento - Conceptos, Visualizaciones y Ejemplos de Código</dc:title>
  <dc:creator>Luis Gabriel Rivas Diaz</dc:creator>
  <cp:lastModifiedBy>Luis Gabriel Rivas Diaz</cp:lastModifiedBy>
  <cp:revision>2</cp:revision>
  <dcterms:created xsi:type="dcterms:W3CDTF">2026-02-23T20:39:52Z</dcterms:created>
  <dcterms:modified xsi:type="dcterms:W3CDTF">2026-03-14T16:14:12Z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2026-02-23T00:00:00Z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